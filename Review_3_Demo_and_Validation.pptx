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1">
                <a:solidFill>
                  <a:srgbClr val="00A0A0"/>
                </a:solidFill>
                <a:latin typeface="Aptos"/>
              </a:defRPr>
            </a:pPr>
            <a:r>
              <a:t>PITCHATHON  /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955279" cy="1508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000" b="1">
                <a:solidFill>
                  <a:srgbClr val="0F2341"/>
                </a:solidFill>
                <a:latin typeface="Aptos"/>
              </a:defRPr>
            </a:pPr>
            <a:r>
              <a:t>AI-Based Solar Panel</a:t>
            </a:r>
            <a:br/>
            <a:r>
              <a:t>Performance Monitoring</a:t>
            </a:r>
            <a:br/>
            <a:r>
              <a:t>and Fault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69494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700" b="0">
                <a:solidFill>
                  <a:srgbClr val="5F6E7D"/>
                </a:solidFill>
                <a:latin typeface="Aptos"/>
              </a:defRPr>
            </a:pPr>
            <a:r>
              <a:t>Review 3 — Results, demonstration and future scope</a:t>
            </a:r>
          </a:p>
        </p:txBody>
      </p:sp>
      <p:sp>
        <p:nvSpPr>
          <p:cNvPr id="6" name="Oval 5"/>
          <p:cNvSpPr/>
          <p:nvPr/>
        </p:nvSpPr>
        <p:spPr>
          <a:xfrm>
            <a:off x="9144000" y="1005840"/>
            <a:ext cx="960120" cy="960120"/>
          </a:xfrm>
          <a:prstGeom prst="ellipse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8138160" y="2743200"/>
            <a:ext cx="3108960" cy="1554480"/>
          </a:xfrm>
          <a:prstGeom prst="parallelogram">
            <a:avLst/>
          </a:prstGeom>
          <a:solidFill>
            <a:srgbClr val="0F2341"/>
          </a:solidFill>
          <a:ln>
            <a:solidFill>
              <a:srgbClr val="0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239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5560" y="2788920"/>
            <a:ext cx="22860" cy="1444752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7888" y="3246120"/>
            <a:ext cx="2880360" cy="228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47888" y="3730752"/>
            <a:ext cx="2880360" cy="2286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71323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500" b="1">
                <a:solidFill>
                  <a:srgbClr val="1C67B4"/>
                </a:solidFill>
                <a:latin typeface="Aptos"/>
              </a:defRPr>
            </a:pPr>
            <a:r>
              <a:t>Signal Processing  •  Machine Learning  •  Analog Electronics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77840"/>
            <a:ext cx="6858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5F6E7D"/>
                </a:solidFill>
                <a:latin typeface="Aptos"/>
              </a:defRPr>
            </a:pPr>
            <a:r>
              <a:t>Team: ____________________     Guide: 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KLH UNIVERSITY  |  PITCHATHON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Prototype Demonstration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0">
                <a:solidFill>
                  <a:srgbClr val="263238"/>
                </a:solidFill>
                <a:latin typeface="Aptos"/>
              </a:defRPr>
            </a:pPr>
            <a:r>
              <a:t>The demo uses synthetic sample data now; hardware readings can be substituted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73152" cy="141732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Generate / load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Sample sensor values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2110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76702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6702" y="2423160"/>
            <a:ext cx="73152" cy="141732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9582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Clean &amp;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9582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Validate readings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3012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7604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7604" y="2423160"/>
            <a:ext cx="73152" cy="141732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0484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Compute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Power + baseline deviation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93915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58507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58507" y="2423160"/>
            <a:ext cx="73152" cy="1417320"/>
          </a:xfrm>
          <a:prstGeom prst="rect">
            <a:avLst/>
          </a:prstGeom>
          <a:solidFill>
            <a:srgbClr val="23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1387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1387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Normal / investigate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84817" y="3136391"/>
            <a:ext cx="137160" cy="0"/>
          </a:xfrm>
          <a:prstGeom prst="line">
            <a:avLst/>
          </a:prstGeom>
          <a:ln w="25400">
            <a:solidFill>
              <a:srgbClr val="0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49409" y="2423160"/>
            <a:ext cx="202631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49409" y="2423160"/>
            <a:ext cx="73152" cy="1417320"/>
          </a:xfrm>
          <a:prstGeom prst="rect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2289" y="2560320"/>
            <a:ext cx="170627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Save 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289" y="2990088"/>
            <a:ext cx="1678838" cy="758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CSV + metrics + plot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60704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1C67B4"/>
                </a:solidFill>
                <a:latin typeface="Aptos"/>
              </a:defRPr>
            </a:pPr>
            <a:r>
              <a:t>Run: python solar_fault_detection.py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What the Demo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Performance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Accuracy, precision, recall and confusion matrix on a held-out test split.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Fault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Rows flagged as normal or possible underperformance with timestamps.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73152" cy="160020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Visual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Power trend and predicted labels saved as a PNG plot.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1C67B4"/>
                </a:solidFill>
                <a:latin typeface="Aptos"/>
              </a:defRPr>
            </a:pPr>
            <a:r>
              <a:t>Metrics depend on the generated data and are for pipeline demonstration, not field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Interpreting Alerts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A low-power alert is a prompt to inspect, not proof of a specific fault.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Clouds, shading and changes in irradiance can lower output without equipment failure.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Temperature, sensor calibration and panel characteristics affect expected output.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Confirm alerts with inspection and repeat measurements before taking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The model supports maintenance decisions; it does not replace electrical safety procedures.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Evaluation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600200"/>
          </a:xfrm>
          <a:prstGeom prst="rect">
            <a:avLst/>
          </a:prstGeom>
          <a:solidFill>
            <a:srgbClr val="1C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Recall for abnormal cases; review missed faults.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73152" cy="1600200"/>
          </a:xfrm>
          <a:prstGeom prst="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False-alarm rate across changing light and temperature.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73152" cy="1600200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737360"/>
            <a:ext cx="32004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600" b="1">
                <a:solidFill>
                  <a:srgbClr val="0F2341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67128"/>
            <a:ext cx="3172968" cy="941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ptos"/>
              </a:defRPr>
            </a:pPr>
            <a:r>
              <a:t>Compare ESP32 sensor readings with a trusted multimeter/reference meter.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400" b="1">
                <a:solidFill>
                  <a:srgbClr val="1C67B4"/>
                </a:solidFill>
                <a:latin typeface="Aptos"/>
              </a:defRPr>
            </a:pPr>
            <a:r>
              <a:t>Target values should be set after collecting a representative real dataset; do not claim unmeasured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Impact, Innovation &amp;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Affordable educational prototype combining analog circuits, DSP and ML.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Trend logging can help students and small operators notice persistent output loss.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Modular design supports later expansion to multiple panels and remote monitoring.</a:t>
            </a:r>
          </a:p>
          <a:p>
            <a:pPr>
              <a:spcAft>
                <a:spcPts val="1300"/>
              </a:spcAft>
              <a:defRPr sz="1800">
                <a:solidFill>
                  <a:srgbClr val="263238"/>
                </a:solidFill>
                <a:latin typeface="Aptos"/>
              </a:defRPr>
            </a:pPr>
            <a:r>
              <a:t>•  Potential integration with MQTT / Wi-Fi dashboard after core detection is validated.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 b="1">
                <a:solidFill>
                  <a:srgbClr val="1C67B4"/>
                </a:solidFill>
                <a:latin typeface="Aptos"/>
              </a:defRPr>
            </a:pPr>
            <a:r>
              <a:t>Innovation focus: interpretable low-cost monitoring with a transparent signal-to-alert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Limitations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Current sample data is synthetic and cannot prove real-world detection performance.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Add calibrated irradiance sensor and collect seasonal data across panel conditions.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Use labelled examples of dust, partial shading, open-circuit and sensor faults.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Deploy on ESP32 for acquisition; keep model inference on laptop/server initially, then optimize if needed.</a:t>
            </a:r>
          </a:p>
          <a:p>
            <a:pPr>
              <a:spcAft>
                <a:spcPts val="13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t>•  Add secure data transport, device health checks and long-term trend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000" b="1">
                <a:solidFill>
                  <a:srgbClr val="00A0A0"/>
                </a:solidFill>
                <a:latin typeface="Aptos"/>
              </a:defRPr>
            </a:pPr>
            <a:r>
              <a:t>PITCHATHON  •  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500" b="1">
                <a:solidFill>
                  <a:srgbClr val="0F2341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051560" cy="50292"/>
          </a:xfrm>
          <a:prstGeom prst="rect">
            <a:avLst/>
          </a:prstGeom>
          <a:solidFill>
            <a:srgbClr val="F5B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800" b="1">
                <a:solidFill>
                  <a:srgbClr val="5F6E7D"/>
                </a:solidFill>
                <a:latin typeface="Aptos"/>
              </a:defRPr>
            </a:pPr>
            <a:r>
              <a:t>AI-BASED SOLAR PANEL PERFORMANCE MONITORING &amp; FAULT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>
              <a:defRPr sz="900" b="1">
                <a:solidFill>
                  <a:srgbClr val="5F6E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69848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The system measures electrical/thermal behaviour, filters signals, extracts features and flags abnormal output.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The prototype is feasible for a student demonstration and directly maps to ECE subjects.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NREL solar resources: https://www.nrel.gov/solar/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ESP32 docs: https://docs.espressif.com/</a:t>
            </a:r>
          </a:p>
          <a:p>
            <a:pPr>
              <a:spcAft>
                <a:spcPts val="13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t>•  IEC 61724-1: PV system performance monitoring; use official/institutional copy for detailed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