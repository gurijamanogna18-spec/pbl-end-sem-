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1">
                <a:solidFill>
                  <a:srgbClr val="00A0A0"/>
                </a:solidFill>
                <a:latin typeface="Aptos"/>
              </a:defRPr>
            </a:pPr>
            <a:r>
              <a:t>PITCHATHON  /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955279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0F2341"/>
                </a:solidFill>
                <a:latin typeface="Aptos"/>
              </a:defRPr>
            </a:pPr>
            <a:r>
              <a:t>AI-Based Solar Panel</a:t>
            </a:r>
            <a:br/>
            <a:r>
              <a:t>Performance Monitoring</a:t>
            </a:r>
            <a:br/>
            <a:r>
              <a:t>and Fault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5F6E7D"/>
                </a:solidFill>
                <a:latin typeface="Aptos"/>
              </a:defRPr>
            </a:pPr>
            <a:r>
              <a:t>Review 2 — Design, algorithm and implementation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1005840"/>
            <a:ext cx="960120" cy="960120"/>
          </a:xfrm>
          <a:prstGeom prst="ellipse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8138160" y="2743200"/>
            <a:ext cx="3108960" cy="1554480"/>
          </a:xfrm>
          <a:prstGeom prst="parallelogram">
            <a:avLst/>
          </a:prstGeom>
          <a:solidFill>
            <a:srgbClr val="0F2341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239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55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7888" y="3246120"/>
            <a:ext cx="2880360" cy="228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47888" y="3730752"/>
            <a:ext cx="2880360" cy="228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71323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C67B4"/>
                </a:solidFill>
                <a:latin typeface="Aptos"/>
              </a:defRPr>
            </a:pPr>
            <a:r>
              <a:t>Signal Processing  •  Machine Learning  •  Analog Electronics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6858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Team: ____________________     Guide: 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KLH UNIVERSITY  |  PITCHATHON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System Design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63238"/>
                </a:solidFill>
                <a:latin typeface="Aptos"/>
              </a:defRPr>
            </a:pPr>
            <a:r>
              <a:t>Every sample is checked, cleaned and converted into meaningful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73152" cy="141732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Acquire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V, I, T, irradiance*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12110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76702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6702" y="2423160"/>
            <a:ext cx="73152" cy="14173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9582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582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Scale, filter, reject invalid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3012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7604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7604" y="2423160"/>
            <a:ext cx="73152" cy="141732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0484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Power, moving mean, deviation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3915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58507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8507" y="2423160"/>
            <a:ext cx="73152" cy="1417320"/>
          </a:xfrm>
          <a:prstGeom prst="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1387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1387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Rule threshold + ML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84817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49409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49409" y="2423160"/>
            <a:ext cx="73152" cy="141732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2289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289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Class, confidence,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6070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1C67B4"/>
                </a:solidFill>
                <a:latin typeface="Aptos"/>
              </a:defRPr>
            </a:pPr>
            <a:r>
              <a:t>*Irradiance sensor is optional; without it, use a calibrated expected-power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Signal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160020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Read sensors at a fixed interval and attach timestamps.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Moving average reduces random noise while retaining slower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73152" cy="160020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Feature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P = V × I; rolling mean; change from baseline; temperature-aware trend.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1C67B4"/>
                </a:solidFill>
                <a:latin typeface="Aptos"/>
              </a:defRPr>
            </a:pPr>
            <a:r>
              <a:t>Important: use the same sampling interval and calibration for training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Analog Front-End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Voltage: divider and suitable input protection scale panel voltage to ADC range.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Current: Hall-effect or shunt-based sensor; select according to current range and isolation needs.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Temperature: module or thermistor with calibrated conversion.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Filtering: simple RC low-pass can reduce high-frequency noise; verify cutoff experimentally.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ESP32 ADC readings require calibration; do not assume raw counts equal accurate volts.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Hardware values must be chosen from the actual panel and sensor datasheets.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Machine Learning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160020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Compare power against a normal reference adjusted for conditions when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Random Forest classifier for normal / possible fault using voltage, current, temperature and derived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73152" cy="160020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Train/test split; confusion matrix, precision, recall and false-alarm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1C67B4"/>
                </a:solidFill>
                <a:latin typeface="Aptos"/>
              </a:defRPr>
            </a:pPr>
            <a:r>
              <a:t>Prototype labels are simulated unless real, verified fault-labelled measurements are collected.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Fault Logic &amp;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Low power: measured power remains well below the expected baseline for several samples.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Sensor issue: impossible or stuck values, sudden discontinuity, or missing data.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Thermal concern: temperature is unusually high alongside output decline.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Shading / soiling / wiring issues can look similar; readings alone may not identify the exact physical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Alert wording: “possible underperformance — inspect panel, shading, wiring and sensors.”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Software Prototype &amp; Demo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Python generates a reproducible sample dataset when no hardware CSV is supplied.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Pandas/NumPy prepare features; scikit-learn trains and evaluates a classifier.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The script saves a CSV log and a confusion-matrix image; optional input CSV supported.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Demo: run script → inspect metrics → view sample alerts → explain how ESP32 data will replace simulated readings.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No fabricated hardware results: simulation is identified clearly in the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Review-2 Tests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Test normal high-sunlight, low-light, hot-panel and abnormal-current scenarios.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Compare raw and smoothed signals to show the effect of filtering.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Check false positives caused by clouds or rapid irradiance changes.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Risks: limited training data, sensor drift, calibration error, overlapping fault signatures.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Mitigation: collect real data, add irradiance measurement, recalibrate and document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